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607040" y="548640"/>
            <a:ext cx="822960" cy="822960"/>
          </a:xfrm>
          <a:prstGeom prst="rect">
            <a:avLst/>
          </a:prstGeom>
          <a:solidFill>
            <a:srgbClr val="F08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BD9C7"/>
                </a:solidFill>
                <a:latin typeface="Calibri"/>
              </a:rPr>
              <a:t>HACKATÓN INTERNA · CLAUDE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803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  <a:latin typeface="Calibri"/>
              </a:rPr>
              <a:t>Calypso Knowledge Hub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4903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CE3D6"/>
                </a:solidFill>
                <a:latin typeface="Calibri"/>
              </a:rPr>
              <a:t>IA agéntica aplicada a capacitación financiera interna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20040"/>
            <a:ext cx="109728" cy="109728"/>
          </a:xfrm>
          <a:prstGeom prst="rect">
            <a:avLst/>
          </a:prstGeom>
          <a:solidFill>
            <a:srgbClr val="E8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25603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CALYPSO HUB</a:t>
            </a:r>
          </a:p>
        </p:txBody>
      </p:sp>
      <p:sp>
        <p:nvSpPr>
          <p:cNvPr id="4" name="Rectangle 3"/>
          <p:cNvSpPr/>
          <p:nvPr/>
        </p:nvSpPr>
        <p:spPr>
          <a:xfrm>
            <a:off x="11612880" y="0"/>
            <a:ext cx="576072" cy="502920"/>
          </a:xfrm>
          <a:prstGeom prst="rect">
            <a:avLst/>
          </a:prstGeom>
          <a:solidFill>
            <a:srgbClr val="E8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622C"/>
                </a:solidFill>
                <a:latin typeface="Calibri"/>
              </a:rPr>
              <a:t>EL PROBLEMA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2430"/>
                </a:solidFill>
                <a:latin typeface="Calibri"/>
              </a:rPr>
              <a:t>Calypso es difícil de aprender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65960"/>
            <a:ext cx="78638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E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2075688"/>
            <a:ext cx="411480" cy="365760"/>
          </a:xfrm>
          <a:prstGeom prst="roundRect">
            <a:avLst/>
          </a:prstGeom>
          <a:solidFill>
            <a:srgbClr val="FB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C84A1E"/>
                </a:solidFill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029968"/>
            <a:ext cx="6995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300">
                <a:solidFill>
                  <a:srgbClr val="1F2430"/>
                </a:solidFill>
              </a:rPr>
              <a:t>Curva de aprendizaje alta</a:t>
            </a:r>
          </a:p>
          <a:p>
            <a:r>
              <a:rPr sz="1100">
                <a:solidFill>
                  <a:srgbClr val="6B7280"/>
                </a:solidFill>
              </a:rPr>
              <a:t>Calypso es una plataforma compleja para nuevos analistas y consultores.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07208"/>
            <a:ext cx="78638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E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5800" y="2916936"/>
            <a:ext cx="411480" cy="365760"/>
          </a:xfrm>
          <a:prstGeom prst="roundRect">
            <a:avLst/>
          </a:prstGeom>
          <a:solidFill>
            <a:srgbClr val="FB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C84A1E"/>
                </a:solidFill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871216"/>
            <a:ext cx="6995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300">
                <a:solidFill>
                  <a:srgbClr val="1F2430"/>
                </a:solidFill>
              </a:rPr>
              <a:t>Conceptos poco intuitivos</a:t>
            </a:r>
          </a:p>
          <a:p>
            <a:r>
              <a:rPr sz="1100">
                <a:solidFill>
                  <a:srgbClr val="6B7280"/>
                </a:solidFill>
              </a:rPr>
              <a:t>Forward FX, NDF, tasas y pricing no son fáciles de entender sin formación financiera previa.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648456"/>
            <a:ext cx="78638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E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85800" y="3758184"/>
            <a:ext cx="411480" cy="365760"/>
          </a:xfrm>
          <a:prstGeom prst="roundRect">
            <a:avLst/>
          </a:prstGeom>
          <a:solidFill>
            <a:srgbClr val="FB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C84A1E"/>
                </a:solidFill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712464"/>
            <a:ext cx="6995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300">
                <a:solidFill>
                  <a:srgbClr val="1F2430"/>
                </a:solidFill>
              </a:rPr>
              <a:t>Sin herramienta interna</a:t>
            </a:r>
          </a:p>
          <a:p>
            <a:r>
              <a:rPr sz="1100">
                <a:solidFill>
                  <a:srgbClr val="6B7280"/>
                </a:solidFill>
              </a:rPr>
              <a:t>El conocimiento vive disperso en documentos y personas, no en una herramienta interactiva.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20040"/>
            <a:ext cx="109728" cy="109728"/>
          </a:xfrm>
          <a:prstGeom prst="rect">
            <a:avLst/>
          </a:prstGeom>
          <a:solidFill>
            <a:srgbClr val="E8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25603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CALYPSO HUB</a:t>
            </a:r>
          </a:p>
        </p:txBody>
      </p:sp>
      <p:sp>
        <p:nvSpPr>
          <p:cNvPr id="4" name="Rectangle 3"/>
          <p:cNvSpPr/>
          <p:nvPr/>
        </p:nvSpPr>
        <p:spPr>
          <a:xfrm>
            <a:off x="11612880" y="0"/>
            <a:ext cx="576072" cy="502920"/>
          </a:xfrm>
          <a:prstGeom prst="rect">
            <a:avLst/>
          </a:prstGeom>
          <a:solidFill>
            <a:srgbClr val="E8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622C"/>
                </a:solidFill>
                <a:latin typeface="Calibri"/>
              </a:rPr>
              <a:t>LA SOLUCIÓN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88720"/>
            <a:ext cx="11064240" cy="4937760"/>
          </a:xfrm>
          <a:prstGeom prst="roundRect">
            <a:avLst/>
          </a:prstGeom>
          <a:solidFill>
            <a:srgbClr val="E8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583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Calypso Knowledge Hub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94560"/>
            <a:ext cx="65836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Plataforma de capacitación interactiva construida con IA agéntica (Claude Code). Esta demo de hackatón corre 100% local, sin backend ni costos de infraestructura — pensada para uso interno de la empresa.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La arquitectura ya está preparada para evolucionar hacia un back office real (usuarios, persistencia, versionado de contenido) cuando se quiera llevar a producción.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1691640"/>
            <a:ext cx="3200400" cy="1051560"/>
          </a:xfrm>
          <a:prstGeom prst="roundRect">
            <a:avLst/>
          </a:prstGeom>
          <a:solidFill>
            <a:srgbClr val="F08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79" y="176479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79" y="225856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Módulos funcionales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79" y="2926080"/>
            <a:ext cx="3200400" cy="1051560"/>
          </a:xfrm>
          <a:prstGeom prst="roundRect">
            <a:avLst/>
          </a:prstGeom>
          <a:solidFill>
            <a:srgbClr val="F08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3879" y="299923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349300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Local, sin backend pagado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79" y="4160520"/>
            <a:ext cx="3200400" cy="1051560"/>
          </a:xfrm>
          <a:prstGeom prst="roundRect">
            <a:avLst/>
          </a:prstGeom>
          <a:solidFill>
            <a:srgbClr val="F08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83879" y="423367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14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79" y="472744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Pull Requests entregados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20040"/>
            <a:ext cx="109728" cy="109728"/>
          </a:xfrm>
          <a:prstGeom prst="rect">
            <a:avLst/>
          </a:prstGeom>
          <a:solidFill>
            <a:srgbClr val="E8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25603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CALYPSO HUB</a:t>
            </a:r>
          </a:p>
        </p:txBody>
      </p:sp>
      <p:sp>
        <p:nvSpPr>
          <p:cNvPr id="4" name="Rectangle 3"/>
          <p:cNvSpPr/>
          <p:nvPr/>
        </p:nvSpPr>
        <p:spPr>
          <a:xfrm>
            <a:off x="11612880" y="0"/>
            <a:ext cx="576072" cy="502920"/>
          </a:xfrm>
          <a:prstGeom prst="rect">
            <a:avLst/>
          </a:prstGeom>
          <a:solidFill>
            <a:srgbClr val="E8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622C"/>
                </a:solidFill>
                <a:latin typeface="Calibri"/>
              </a:rPr>
              <a:t>FUNCIONALIDADES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2430"/>
                </a:solidFill>
                <a:latin typeface="Calibri"/>
              </a:rPr>
              <a:t>Qué incluye el MVP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03120"/>
            <a:ext cx="260604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E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2377440"/>
            <a:ext cx="502920" cy="502920"/>
          </a:xfrm>
          <a:prstGeom prst="roundRect">
            <a:avLst/>
          </a:prstGeom>
          <a:solidFill>
            <a:srgbClr val="E8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06324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2430"/>
                </a:solidFill>
                <a:latin typeface="Calibri"/>
              </a:rPr>
              <a:t>Simulador FX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611880"/>
            <a:ext cx="21945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50">
                <a:solidFill>
                  <a:srgbClr val="6B7280"/>
                </a:solidFill>
                <a:latin typeface="Calibri"/>
              </a:rPr>
              <a:t>FX Spot, Forward FX y FX NDF, con cálculo de cashflows en tiempo real.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2103120"/>
            <a:ext cx="260604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E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20440" y="2377440"/>
            <a:ext cx="502920" cy="502920"/>
          </a:xfrm>
          <a:prstGeom prst="roundRect">
            <a:avLst/>
          </a:prstGeom>
          <a:solidFill>
            <a:srgbClr val="E8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40" y="306324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2430"/>
                </a:solidFill>
                <a:latin typeface="Calibri"/>
              </a:rPr>
              <a:t>Diccionario interactivo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3611880"/>
            <a:ext cx="21945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50">
                <a:solidFill>
                  <a:srgbClr val="6B7280"/>
                </a:solidFill>
                <a:latin typeface="Calibri"/>
              </a:rPr>
              <a:t>Hover sobre cualquier valor calculado: definición, fórmula y origen del dato.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0" y="2103120"/>
            <a:ext cx="260604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E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63640" y="2377440"/>
            <a:ext cx="502920" cy="502920"/>
          </a:xfrm>
          <a:prstGeom prst="roundRect">
            <a:avLst/>
          </a:prstGeom>
          <a:solidFill>
            <a:srgbClr val="E8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306324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2430"/>
                </a:solidFill>
                <a:latin typeface="Calibri"/>
              </a:rPr>
              <a:t>Editor de XML (CDUF)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3611880"/>
            <a:ext cx="21945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50">
                <a:solidFill>
                  <a:srgbClr val="6B7280"/>
                </a:solidFill>
                <a:latin typeface="Calibri"/>
              </a:rPr>
              <a:t>Carga, edita y exporta trades de Calypso en formato CDUF.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78240" y="2103120"/>
            <a:ext cx="260604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E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006840" y="2377440"/>
            <a:ext cx="502920" cy="502920"/>
          </a:xfrm>
          <a:prstGeom prst="roundRect">
            <a:avLst/>
          </a:prstGeom>
          <a:solidFill>
            <a:srgbClr val="E8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06840" y="306324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2430"/>
                </a:solidFill>
                <a:latin typeface="Calibri"/>
              </a:rPr>
              <a:t>Gestión de contenido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06840" y="3611880"/>
            <a:ext cx="21945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50">
                <a:solidFill>
                  <a:srgbClr val="6B7280"/>
                </a:solidFill>
                <a:latin typeface="Calibri"/>
              </a:rPr>
              <a:t>Página centralizada para proponer nuevos términos del diccionario.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20040"/>
            <a:ext cx="109728" cy="109728"/>
          </a:xfrm>
          <a:prstGeom prst="rect">
            <a:avLst/>
          </a:prstGeom>
          <a:solidFill>
            <a:srgbClr val="E8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25603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CALYPSO HUB</a:t>
            </a:r>
          </a:p>
        </p:txBody>
      </p:sp>
      <p:sp>
        <p:nvSpPr>
          <p:cNvPr id="4" name="Rectangle 3"/>
          <p:cNvSpPr/>
          <p:nvPr/>
        </p:nvSpPr>
        <p:spPr>
          <a:xfrm>
            <a:off x="11612880" y="0"/>
            <a:ext cx="576072" cy="502920"/>
          </a:xfrm>
          <a:prstGeom prst="rect">
            <a:avLst/>
          </a:prstGeom>
          <a:solidFill>
            <a:srgbClr val="E8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622C"/>
                </a:solidFill>
                <a:latin typeface="Calibri"/>
              </a:rPr>
              <a:t>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2430"/>
                </a:solidFill>
                <a:latin typeface="Calibri"/>
              </a:rPr>
              <a:t>Simulador de Forward FX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6B7280"/>
                </a:solidFill>
                <a:latin typeface="Calibri"/>
              </a:rPr>
              <a:t>Cálculo de Forward Rate con la fórmula de Covered Interest Rate Parity (CIP), mostrando paso a paso cómo se llega al resultado con los valores reales ingresados.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6B7280"/>
                </a:solidFill>
                <a:latin typeface="Calibri"/>
              </a:rPr>
              <a:t>Soporta FX Spot, Forward FX y FX NDF, configurados por archivos JSON por producto.</a:t>
            </a:r>
          </a:p>
        </p:txBody>
      </p:sp>
      <p:pic>
        <p:nvPicPr>
          <p:cNvPr id="8" name="Picture 7" descr="simulador-forw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669280" cy="35433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20040"/>
            <a:ext cx="109728" cy="109728"/>
          </a:xfrm>
          <a:prstGeom prst="rect">
            <a:avLst/>
          </a:prstGeom>
          <a:solidFill>
            <a:srgbClr val="E8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25603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CALYPSO HUB</a:t>
            </a:r>
          </a:p>
        </p:txBody>
      </p:sp>
      <p:sp>
        <p:nvSpPr>
          <p:cNvPr id="4" name="Rectangle 3"/>
          <p:cNvSpPr/>
          <p:nvPr/>
        </p:nvSpPr>
        <p:spPr>
          <a:xfrm>
            <a:off x="11612880" y="0"/>
            <a:ext cx="576072" cy="502920"/>
          </a:xfrm>
          <a:prstGeom prst="rect">
            <a:avLst/>
          </a:prstGeom>
          <a:solidFill>
            <a:srgbClr val="E8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622C"/>
                </a:solidFill>
                <a:latin typeface="Calibri"/>
              </a:rPr>
              <a:t>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2430"/>
                </a:solidFill>
                <a:latin typeface="Calibri"/>
              </a:rPr>
              <a:t>Diccionario interactivo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6B7280"/>
                </a:solidFill>
                <a:latin typeface="Calibri"/>
              </a:rPr>
              <a:t>Cada término del simulador tiene su definición, fórmula y origen del dato, organizados por módulo.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6B7280"/>
                </a:solidFill>
                <a:latin typeface="Calibri"/>
              </a:rPr>
              <a:t>Etiquetado claro: TRANSFERIBLE para conceptos aplicables a otras plataformas, vs. específico de Calypso.</a:t>
            </a:r>
          </a:p>
        </p:txBody>
      </p:sp>
      <p:pic>
        <p:nvPicPr>
          <p:cNvPr id="8" name="Picture 7" descr="diccion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669280" cy="35433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20040"/>
            <a:ext cx="109728" cy="109728"/>
          </a:xfrm>
          <a:prstGeom prst="rect">
            <a:avLst/>
          </a:prstGeom>
          <a:solidFill>
            <a:srgbClr val="E8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25603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CALYPSO HUB</a:t>
            </a:r>
          </a:p>
        </p:txBody>
      </p:sp>
      <p:sp>
        <p:nvSpPr>
          <p:cNvPr id="4" name="Rectangle 3"/>
          <p:cNvSpPr/>
          <p:nvPr/>
        </p:nvSpPr>
        <p:spPr>
          <a:xfrm>
            <a:off x="11612880" y="0"/>
            <a:ext cx="576072" cy="502920"/>
          </a:xfrm>
          <a:prstGeom prst="rect">
            <a:avLst/>
          </a:prstGeom>
          <a:solidFill>
            <a:srgbClr val="E8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622C"/>
                </a:solidFill>
                <a:latin typeface="Calibri"/>
              </a:rPr>
              <a:t>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2430"/>
                </a:solidFill>
                <a:latin typeface="Calibri"/>
              </a:rPr>
              <a:t>Editor de XML de trades (CDUF)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6B7280"/>
                </a:solidFill>
                <a:latin typeface="Calibri"/>
              </a:rPr>
              <a:t>Carga un XML de trade de Calypso y lo convierte en un formulario editable, con jerarquía visual de 3 niveles.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6B7280"/>
                </a:solidFill>
                <a:latin typeface="Calibri"/>
              </a:rPr>
              <a:t>Campos y bloques repetibles (duplicar contrapartes, agregar valores), y exportación de vuelta a formato CDUF.</a:t>
            </a:r>
          </a:p>
        </p:txBody>
      </p:sp>
      <p:pic>
        <p:nvPicPr>
          <p:cNvPr id="8" name="Picture 7" descr="xml-edi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669280" cy="3937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20040"/>
            <a:ext cx="109728" cy="109728"/>
          </a:xfrm>
          <a:prstGeom prst="rect">
            <a:avLst/>
          </a:prstGeom>
          <a:solidFill>
            <a:srgbClr val="E8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25603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CALYPSO HUB</a:t>
            </a:r>
          </a:p>
        </p:txBody>
      </p:sp>
      <p:sp>
        <p:nvSpPr>
          <p:cNvPr id="4" name="Rectangle 3"/>
          <p:cNvSpPr/>
          <p:nvPr/>
        </p:nvSpPr>
        <p:spPr>
          <a:xfrm>
            <a:off x="11612880" y="0"/>
            <a:ext cx="576072" cy="502920"/>
          </a:xfrm>
          <a:prstGeom prst="rect">
            <a:avLst/>
          </a:prstGeom>
          <a:solidFill>
            <a:srgbClr val="E8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622C"/>
                </a:solidFill>
                <a:latin typeface="Calibri"/>
              </a:rPr>
              <a:t>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2430"/>
                </a:solidFill>
                <a:latin typeface="Calibri"/>
              </a:rPr>
              <a:t>Gestión de contenido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6B7280"/>
                </a:solidFill>
                <a:latin typeface="Calibri"/>
              </a:rPr>
              <a:t>Formulario para proponer nuevos términos al diccionario sin tocar código.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6B7280"/>
                </a:solidFill>
                <a:latin typeface="Calibri"/>
              </a:rPr>
              <a:t>Pensado para recibir entradas generadas externamente con IA, manteniendo el control de calidad humano.</a:t>
            </a:r>
          </a:p>
        </p:txBody>
      </p:sp>
      <p:pic>
        <p:nvPicPr>
          <p:cNvPr id="8" name="Picture 7" descr="ges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669280" cy="3937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20040"/>
            <a:ext cx="109728" cy="109728"/>
          </a:xfrm>
          <a:prstGeom prst="rect">
            <a:avLst/>
          </a:prstGeom>
          <a:solidFill>
            <a:srgbClr val="E8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25603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CALYPSO HUB</a:t>
            </a:r>
          </a:p>
        </p:txBody>
      </p:sp>
      <p:sp>
        <p:nvSpPr>
          <p:cNvPr id="4" name="Rectangle 3"/>
          <p:cNvSpPr/>
          <p:nvPr/>
        </p:nvSpPr>
        <p:spPr>
          <a:xfrm>
            <a:off x="11612880" y="0"/>
            <a:ext cx="576072" cy="502920"/>
          </a:xfrm>
          <a:prstGeom prst="rect">
            <a:avLst/>
          </a:prstGeom>
          <a:solidFill>
            <a:srgbClr val="E8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622C"/>
                </a:solidFill>
                <a:latin typeface="Calibri"/>
              </a:rPr>
              <a:t>CÓMO SE CONSTRUYÓ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2430"/>
                </a:solidFill>
                <a:latin typeface="Calibri"/>
              </a:rPr>
              <a:t>Buenas prácticas de IA agéntica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65960"/>
            <a:ext cx="78638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E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2075688"/>
            <a:ext cx="411480" cy="365760"/>
          </a:xfrm>
          <a:prstGeom prst="roundRect">
            <a:avLst/>
          </a:prstGeom>
          <a:solidFill>
            <a:srgbClr val="FB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C84A1E"/>
                </a:solidFill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029968"/>
            <a:ext cx="69951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300">
                <a:solidFill>
                  <a:srgbClr val="1F2430"/>
                </a:solidFill>
              </a:rPr>
              <a:t>Plan antes de código</a:t>
            </a:r>
          </a:p>
          <a:p>
            <a:r>
              <a:rPr sz="1100">
                <a:solidFill>
                  <a:srgbClr val="6B7280"/>
                </a:solidFill>
              </a:rPr>
              <a:t>Ningún cambio se implementó sin presentar el plan y obtener confirmación explícita.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697479"/>
            <a:ext cx="78638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E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5800" y="2807207"/>
            <a:ext cx="411480" cy="365760"/>
          </a:xfrm>
          <a:prstGeom prst="roundRect">
            <a:avLst/>
          </a:prstGeom>
          <a:solidFill>
            <a:srgbClr val="FB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C84A1E"/>
                </a:solidFill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761487"/>
            <a:ext cx="69951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300">
                <a:solidFill>
                  <a:srgbClr val="1F2430"/>
                </a:solidFill>
              </a:rPr>
              <a:t>Validación financiera humana</a:t>
            </a:r>
          </a:p>
          <a:p>
            <a:r>
              <a:rPr sz="1100">
                <a:solidFill>
                  <a:srgbClr val="6B7280"/>
                </a:solidFill>
              </a:rPr>
              <a:t>Cada fórmula se explicó en términos simples y se confirmó su fuente antes de implementarla — ninguna se inventó.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428999"/>
            <a:ext cx="78638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E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85800" y="3538727"/>
            <a:ext cx="411480" cy="365760"/>
          </a:xfrm>
          <a:prstGeom prst="roundRect">
            <a:avLst/>
          </a:prstGeom>
          <a:solidFill>
            <a:srgbClr val="FB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C84A1E"/>
                </a:solidFill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93007"/>
            <a:ext cx="69951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300">
                <a:solidFill>
                  <a:srgbClr val="1F2430"/>
                </a:solidFill>
              </a:rPr>
              <a:t>Una feature por commit</a:t>
            </a:r>
          </a:p>
          <a:p>
            <a:r>
              <a:rPr sz="1100">
                <a:solidFill>
                  <a:srgbClr val="6B7280"/>
                </a:solidFill>
              </a:rPr>
              <a:t>14 Pull Requests en el historial, cambios pequeños y revisables.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160520"/>
            <a:ext cx="78638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E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85800" y="4270248"/>
            <a:ext cx="411480" cy="365760"/>
          </a:xfrm>
          <a:prstGeom prst="roundRect">
            <a:avLst/>
          </a:prstGeom>
          <a:solidFill>
            <a:srgbClr val="FB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C84A1E"/>
                </a:solidFill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4224528"/>
            <a:ext cx="69951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300">
                <a:solidFill>
                  <a:srgbClr val="1F2430"/>
                </a:solidFill>
              </a:rPr>
              <a:t>Arquitectura extensible por motores</a:t>
            </a:r>
          </a:p>
          <a:p>
            <a:r>
              <a:rPr sz="1100">
                <a:solidFill>
                  <a:srgbClr val="6B7280"/>
                </a:solidFill>
              </a:rPr>
              <a:t>Cada producto financiero tiene su propio motor de cálculo; agregar uno nuevo no modifica los existentes, solo se suma uno más.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892040"/>
            <a:ext cx="78638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E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85800" y="5001768"/>
            <a:ext cx="411480" cy="365760"/>
          </a:xfrm>
          <a:prstGeom prst="roundRect">
            <a:avLst/>
          </a:prstGeom>
          <a:solidFill>
            <a:srgbClr val="FB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C84A1E"/>
                </a:solidFill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4956048"/>
            <a:ext cx="69951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300">
                <a:solidFill>
                  <a:srgbClr val="1F2430"/>
                </a:solidFill>
              </a:rPr>
              <a:t>Convenciones consistentes</a:t>
            </a:r>
          </a:p>
          <a:p>
            <a:r>
              <a:rPr sz="1100">
                <a:solidFill>
                  <a:srgbClr val="6B7280"/>
                </a:solidFill>
              </a:rPr>
              <a:t>Commits en español, ramas descriptivas, hooks de verificación antes de cada push.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20040"/>
            <a:ext cx="109728" cy="109728"/>
          </a:xfrm>
          <a:prstGeom prst="rect">
            <a:avLst/>
          </a:prstGeom>
          <a:solidFill>
            <a:srgbClr val="E8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25603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CALYPSO HUB</a:t>
            </a:r>
          </a:p>
        </p:txBody>
      </p:sp>
      <p:sp>
        <p:nvSpPr>
          <p:cNvPr id="4" name="Rectangle 3"/>
          <p:cNvSpPr/>
          <p:nvPr/>
        </p:nvSpPr>
        <p:spPr>
          <a:xfrm>
            <a:off x="11612880" y="0"/>
            <a:ext cx="576072" cy="502920"/>
          </a:xfrm>
          <a:prstGeom prst="rect">
            <a:avLst/>
          </a:prstGeom>
          <a:solidFill>
            <a:srgbClr val="E8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622C"/>
                </a:solidFill>
                <a:latin typeface="Calibri"/>
              </a:rPr>
              <a:t>VALOR PARA EL NEGOCIO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2430"/>
                </a:solidFill>
                <a:latin typeface="Calibri"/>
              </a:rPr>
              <a:t>Por qué esto importa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65960"/>
            <a:ext cx="3520440" cy="960120"/>
          </a:xfrm>
          <a:prstGeom prst="roundRect">
            <a:avLst/>
          </a:prstGeom>
          <a:solidFill>
            <a:srgbClr val="E8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574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14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Menor curva de aprendizaje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59" y="1965960"/>
            <a:ext cx="3520440" cy="960120"/>
          </a:xfrm>
          <a:prstGeom prst="roundRect">
            <a:avLst/>
          </a:prstGeom>
          <a:solidFill>
            <a:srgbClr val="E8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20574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$0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514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Costo marginal en esta etapa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79" y="1965960"/>
            <a:ext cx="3520440" cy="960120"/>
          </a:xfrm>
          <a:prstGeom prst="roundRect">
            <a:avLst/>
          </a:prstGeom>
          <a:solidFill>
            <a:srgbClr val="E8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59" y="20574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59" y="2514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Productos escalables agregando nuevos motores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200400"/>
            <a:ext cx="10881360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E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85800" y="3310128"/>
            <a:ext cx="411480" cy="365760"/>
          </a:xfrm>
          <a:prstGeom prst="roundRect">
            <a:avLst/>
          </a:prstGeom>
          <a:solidFill>
            <a:srgbClr val="FB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C84A1E"/>
                </a:solidFill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3264408"/>
            <a:ext cx="10012680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300">
                <a:solidFill>
                  <a:srgbClr val="1F2430"/>
                </a:solidFill>
              </a:rPr>
              <a:t>Onboarding más rápido</a:t>
            </a:r>
          </a:p>
          <a:p>
            <a:r>
              <a:rPr sz="1100">
                <a:solidFill>
                  <a:srgbClr val="6B7280"/>
                </a:solidFill>
              </a:rPr>
              <a:t>Reduce la curva de aprendizaje de nuevos analistas y consultores Calypso.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913632"/>
            <a:ext cx="10881360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E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85800" y="4023360"/>
            <a:ext cx="411480" cy="365760"/>
          </a:xfrm>
          <a:prstGeom prst="roundRect">
            <a:avLst/>
          </a:prstGeom>
          <a:solidFill>
            <a:srgbClr val="FB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C84A1E"/>
                </a:solidFill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3977640"/>
            <a:ext cx="10012680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300">
                <a:solidFill>
                  <a:srgbClr val="1F2430"/>
                </a:solidFill>
              </a:rPr>
              <a:t>Costo casi nulo</a:t>
            </a:r>
          </a:p>
          <a:p>
            <a:r>
              <a:rPr sz="1100">
                <a:solidFill>
                  <a:srgbClr val="6B7280"/>
                </a:solidFill>
              </a:rPr>
              <a:t>Sin licencias, sin backend pagado en esta etapa de demo.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26864"/>
            <a:ext cx="10881360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E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85800" y="4736592"/>
            <a:ext cx="411480" cy="365760"/>
          </a:xfrm>
          <a:prstGeom prst="roundRect">
            <a:avLst/>
          </a:prstGeom>
          <a:solidFill>
            <a:srgbClr val="FB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C84A1E"/>
                </a:solidFill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4690872"/>
            <a:ext cx="10012680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300">
                <a:solidFill>
                  <a:srgbClr val="1F2430"/>
                </a:solidFill>
              </a:rPr>
              <a:t>Lista para escalar</a:t>
            </a:r>
          </a:p>
          <a:p>
            <a:r>
              <a:rPr sz="1100">
                <a:solidFill>
                  <a:srgbClr val="6B7280"/>
                </a:solidFill>
              </a:rPr>
              <a:t>Arquitectura preparada para un back office real y para sumar nuevos motores de producto sin tocar los existentes.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340096"/>
            <a:ext cx="10881360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E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85800" y="5449824"/>
            <a:ext cx="411480" cy="365760"/>
          </a:xfrm>
          <a:prstGeom prst="roundRect">
            <a:avLst/>
          </a:prstGeom>
          <a:solidFill>
            <a:srgbClr val="FB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C84A1E"/>
                </a:solidFill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5404104"/>
            <a:ext cx="10012680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300">
                <a:solidFill>
                  <a:srgbClr val="1F2430"/>
                </a:solidFill>
              </a:rPr>
              <a:t>Metodología reusable</a:t>
            </a:r>
          </a:p>
          <a:p>
            <a:r>
              <a:rPr sz="1100">
                <a:solidFill>
                  <a:srgbClr val="6B7280"/>
                </a:solidFill>
              </a:rPr>
              <a:t>El mismo enfoque de IA agéntica aplica a otras herramientas internas de la empresa.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20040"/>
            <a:ext cx="109728" cy="109728"/>
          </a:xfrm>
          <a:prstGeom prst="rect">
            <a:avLst/>
          </a:prstGeom>
          <a:solidFill>
            <a:srgbClr val="E8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25603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CALYPSO HUB</a:t>
            </a:r>
          </a:p>
        </p:txBody>
      </p:sp>
      <p:sp>
        <p:nvSpPr>
          <p:cNvPr id="4" name="Rectangle 3"/>
          <p:cNvSpPr/>
          <p:nvPr/>
        </p:nvSpPr>
        <p:spPr>
          <a:xfrm>
            <a:off x="11612880" y="0"/>
            <a:ext cx="576072" cy="502920"/>
          </a:xfrm>
          <a:prstGeom prst="rect">
            <a:avLst/>
          </a:prstGeom>
          <a:solidFill>
            <a:srgbClr val="E8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622C"/>
                </a:solidFill>
                <a:latin typeface="Calibri"/>
              </a:rPr>
              <a:t>PRÓXIMOS PASOS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2430"/>
                </a:solidFill>
                <a:latin typeface="Calibri"/>
              </a:rPr>
              <a:t>Roadmap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65960"/>
            <a:ext cx="78638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E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2075688"/>
            <a:ext cx="411480" cy="365760"/>
          </a:xfrm>
          <a:prstGeom prst="roundRect">
            <a:avLst/>
          </a:prstGeom>
          <a:solidFill>
            <a:srgbClr val="FB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C84A1E"/>
                </a:solidFill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029968"/>
            <a:ext cx="6995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300">
                <a:solidFill>
                  <a:srgbClr val="1F2430"/>
                </a:solidFill>
              </a:rPr>
              <a:t>Back office</a:t>
            </a:r>
          </a:p>
          <a:p>
            <a:r>
              <a:rPr sz="1100">
                <a:solidFill>
                  <a:srgbClr val="6B7280"/>
                </a:solidFill>
              </a:rPr>
              <a:t>Gestión de usuarios, persistencia real y versionado de contenido.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07208"/>
            <a:ext cx="78638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E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5800" y="2916936"/>
            <a:ext cx="411480" cy="365760"/>
          </a:xfrm>
          <a:prstGeom prst="roundRect">
            <a:avLst/>
          </a:prstGeom>
          <a:solidFill>
            <a:srgbClr val="FB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C84A1E"/>
                </a:solidFill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871216"/>
            <a:ext cx="6995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300">
                <a:solidFill>
                  <a:srgbClr val="1F2430"/>
                </a:solidFill>
              </a:rPr>
              <a:t>Ficha de producto por IA</a:t>
            </a:r>
          </a:p>
          <a:p>
            <a:r>
              <a:rPr sz="1100">
                <a:solidFill>
                  <a:srgbClr val="6B7280"/>
                </a:solidFill>
              </a:rPr>
              <a:t>Generación asistida de la ficha de configuración del producto simulado.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648456"/>
            <a:ext cx="78638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E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85800" y="3758184"/>
            <a:ext cx="411480" cy="365760"/>
          </a:xfrm>
          <a:prstGeom prst="roundRect">
            <a:avLst/>
          </a:prstGeom>
          <a:solidFill>
            <a:srgbClr val="FB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C84A1E"/>
                </a:solidFill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712464"/>
            <a:ext cx="6995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300">
                <a:solidFill>
                  <a:srgbClr val="1F2430"/>
                </a:solidFill>
              </a:rPr>
              <a:t>Más productos financieros</a:t>
            </a:r>
          </a:p>
          <a:p>
            <a:r>
              <a:rPr sz="1100">
                <a:solidFill>
                  <a:srgbClr val="6B7280"/>
                </a:solidFill>
              </a:rPr>
              <a:t>Ampliar el simulador a nuevos instrumentos.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489704"/>
            <a:ext cx="78638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E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85800" y="4599432"/>
            <a:ext cx="411480" cy="365760"/>
          </a:xfrm>
          <a:prstGeom prst="roundRect">
            <a:avLst/>
          </a:prstGeom>
          <a:solidFill>
            <a:srgbClr val="FB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C84A1E"/>
                </a:solidFill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4553712"/>
            <a:ext cx="6995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300">
                <a:solidFill>
                  <a:srgbClr val="1F2430"/>
                </a:solidFill>
              </a:rPr>
              <a:t>Más colaboradores</a:t>
            </a:r>
          </a:p>
          <a:p>
            <a:r>
              <a:rPr sz="1100">
                <a:solidFill>
                  <a:srgbClr val="6B7280"/>
                </a:solidFill>
              </a:rPr>
              <a:t>Crecer el diccionario con aportes del equipo.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800" b="1">
                <a:solidFill>
                  <a:srgbClr val="FFFFFF"/>
                </a:solidFill>
                <a:latin typeface="Calibri"/>
              </a:rPr>
              <a:t>Gracias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