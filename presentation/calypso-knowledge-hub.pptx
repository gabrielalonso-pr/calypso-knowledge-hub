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Calibri"/>
              </a:rPr>
              <a:t>Calypso Knowledge 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918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9FB0D8"/>
                </a:solidFill>
                <a:latin typeface="Calibri"/>
              </a:rPr>
              <a:t>IA agéntica aplicada a capacitación financiera interna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563EB"/>
                </a:solidFill>
                <a:latin typeface="Calibri"/>
              </a:rPr>
              <a:t>HACKATÓN INTERNA · CLAUDE CODE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Calibri"/>
              </a:rPr>
              <a:t>EL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B3D"/>
                </a:solidFill>
                <a:latin typeface="Calibri"/>
              </a:rPr>
              <a:t>Calypso es difícil de aprender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0789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475569"/>
                </a:solidFill>
                <a:latin typeface="Calibri"/>
              </a:defRPr>
            </a:pPr>
            <a:r>
              <a:t>•  Calypso es una plataforma compleja, con una curva de aprendizaje alta para nuevos analistas y consultores.</a:t>
            </a:r>
          </a:p>
          <a:p>
            <a:pPr>
              <a:spcAft>
                <a:spcPts val="1000"/>
              </a:spcAft>
              <a:defRPr sz="2000">
                <a:solidFill>
                  <a:srgbClr val="475569"/>
                </a:solidFill>
                <a:latin typeface="Calibri"/>
              </a:defRPr>
            </a:pPr>
            <a:r>
              <a:t>•  Los conceptos financieros que la sustentan (Forward FX, NDF, tasas, pricing) no son intuitivos para quien no tiene formación financiera previa.</a:t>
            </a:r>
          </a:p>
          <a:p>
            <a:pPr>
              <a:spcAft>
                <a:spcPts val="1000"/>
              </a:spcAft>
              <a:defRPr sz="2000">
                <a:solidFill>
                  <a:srgbClr val="475569"/>
                </a:solidFill>
                <a:latin typeface="Calibri"/>
              </a:defRPr>
            </a:pPr>
            <a:r>
              <a:t>•  No existe hoy una herramienta interna interactiva para capacitar en estos conceptos — el conocimiento vive disperso en documentos y personas.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Calibri"/>
              </a:rPr>
              <a:t>LA SOLUCIÓN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B3D"/>
                </a:solidFill>
                <a:latin typeface="Calibri"/>
              </a:rPr>
              <a:t>Calypso Knowledge 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0789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475569"/>
                </a:solidFill>
                <a:latin typeface="Calibri"/>
              </a:defRPr>
            </a:pPr>
            <a:r>
              <a:t>•  Plataforma de capacitación interactiva construida con IA agéntica (Claude Code).</a:t>
            </a:r>
          </a:p>
          <a:p>
            <a:pPr>
              <a:spcAft>
                <a:spcPts val="1000"/>
              </a:spcAft>
              <a:defRPr sz="2000">
                <a:solidFill>
                  <a:srgbClr val="475569"/>
                </a:solidFill>
                <a:latin typeface="Calibri"/>
              </a:defRPr>
            </a:pPr>
            <a:r>
              <a:t>•  Esta demo de hackatón corre 100% local, sin backend ni costos de infraestructura — pensada para uso interno de la empresa.</a:t>
            </a:r>
          </a:p>
          <a:p>
            <a:pPr>
              <a:spcAft>
                <a:spcPts val="1000"/>
              </a:spcAft>
              <a:defRPr sz="2000">
                <a:solidFill>
                  <a:srgbClr val="475569"/>
                </a:solidFill>
                <a:latin typeface="Calibri"/>
              </a:defRPr>
            </a:pPr>
            <a:r>
              <a:t>•  La arquitectura ya está preparada para evolucionar hacia un back office real (usuarios, persistencia, versionado de contenido) cuando se quiera llevar a producción.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Calibri"/>
              </a:rPr>
              <a:t>FUNCIONALIDADES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B3D"/>
                </a:solidFill>
                <a:latin typeface="Calibri"/>
              </a:rPr>
              <a:t>Qué incluye el MVP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5394960" cy="192024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52400"/>
          <a:lstStyle/>
          <a:p>
            <a:pPr algn="ctr"/>
            <a:r>
              <a:rPr b="1" sz="1800">
                <a:solidFill>
                  <a:srgbClr val="0F1B3D"/>
                </a:solidFill>
              </a:rPr>
              <a:t>Simulador FX</a:t>
            </a:r>
          </a:p>
          <a:p>
            <a:r>
              <a:rPr sz="1400">
                <a:solidFill>
                  <a:srgbClr val="475569"/>
                </a:solidFill>
              </a:rPr>
              <a:t>FX Spot, Forward FX y FX NDF, con cálculo de cashflows en tiempo real.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645920"/>
            <a:ext cx="5394960" cy="192024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52400"/>
          <a:lstStyle/>
          <a:p>
            <a:pPr algn="ctr"/>
            <a:r>
              <a:rPr b="1" sz="1800">
                <a:solidFill>
                  <a:srgbClr val="0F1B3D"/>
                </a:solidFill>
              </a:rPr>
              <a:t>Diccionario interactivo</a:t>
            </a:r>
          </a:p>
          <a:p>
            <a:r>
              <a:rPr sz="1400">
                <a:solidFill>
                  <a:srgbClr val="475569"/>
                </a:solidFill>
              </a:rPr>
              <a:t>Hover sobre cualquier valor calculado: definición, fórmula y origen del dato.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840480"/>
            <a:ext cx="5394960" cy="192024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52400"/>
          <a:lstStyle/>
          <a:p>
            <a:pPr algn="ctr"/>
            <a:r>
              <a:rPr b="1" sz="1800">
                <a:solidFill>
                  <a:srgbClr val="0F1B3D"/>
                </a:solidFill>
              </a:rPr>
              <a:t>Editor de XML de trades</a:t>
            </a:r>
          </a:p>
          <a:p>
            <a:r>
              <a:rPr sz="1400">
                <a:solidFill>
                  <a:srgbClr val="475569"/>
                </a:solidFill>
              </a:rPr>
              <a:t>Carga, edita y exporta trades de Calypso en formato CDUF.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3840480"/>
            <a:ext cx="5394960" cy="192024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52400"/>
          <a:lstStyle/>
          <a:p>
            <a:pPr algn="ctr"/>
            <a:r>
              <a:rPr b="1" sz="1800">
                <a:solidFill>
                  <a:srgbClr val="0F1B3D"/>
                </a:solidFill>
              </a:rPr>
              <a:t>Gestión de contenido</a:t>
            </a:r>
          </a:p>
          <a:p>
            <a:r>
              <a:rPr sz="1400">
                <a:solidFill>
                  <a:srgbClr val="475569"/>
                </a:solidFill>
              </a:rPr>
              <a:t>Página centralizada para proponer nuevos términos del diccionario.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Calibri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B3D"/>
                </a:solidFill>
                <a:latin typeface="Calibri"/>
              </a:rPr>
              <a:t>Simulador de Forward FX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  <a:latin typeface="Calibri"/>
              </a:defRPr>
            </a:pPr>
            <a:r>
              <a:t>•  Cálculo de Forward Rate con la fórmula de Covered Interest Rate Parity (CIP), mostrando paso a paso cómo se llega al resultado con los valores reales ingresados.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  <a:latin typeface="Calibri"/>
              </a:defRPr>
            </a:pPr>
            <a:r>
              <a:t>•  Soporta FX Spot, Forward FX y FX NDF desde el mismo motor, configurado por archivos JSON por producto.</a:t>
            </a:r>
          </a:p>
        </p:txBody>
      </p:sp>
      <p:pic>
        <p:nvPicPr>
          <p:cNvPr id="5" name="Picture 4" descr="simulador-forw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554480"/>
            <a:ext cx="5669280" cy="35433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Calibri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B3D"/>
                </a:solidFill>
                <a:latin typeface="Calibri"/>
              </a:rPr>
              <a:t>Diccionario interactivo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  <a:latin typeface="Calibri"/>
              </a:defRPr>
            </a:pPr>
            <a:r>
              <a:t>•  Cada término del simulador tiene su definición, fórmula y origen del dato, organizados por módulo.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  <a:latin typeface="Calibri"/>
              </a:defRPr>
            </a:pPr>
            <a:r>
              <a:t>•  Etiquetado claro: TRANSFERIBLE para conceptos aplicables a otras plataformas, vs. específico de Calypso.</a:t>
            </a:r>
          </a:p>
        </p:txBody>
      </p:sp>
      <p:pic>
        <p:nvPicPr>
          <p:cNvPr id="5" name="Picture 4" descr="diccion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554480"/>
            <a:ext cx="5669280" cy="35433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Calibri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B3D"/>
                </a:solidFill>
                <a:latin typeface="Calibri"/>
              </a:rPr>
              <a:t>Editor de XML de trades (CDUF)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  <a:latin typeface="Calibri"/>
              </a:defRPr>
            </a:pPr>
            <a:r>
              <a:t>•  Carga un XML de trade de Calypso y lo convierte en un formulario editable, con jerarquía visual de 3 niveles.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  <a:latin typeface="Calibri"/>
              </a:defRPr>
            </a:pPr>
            <a:r>
              <a:t>•  Campos y bloques repetibles (duplicar contrapartes, agregar valores), y exportación de vuelta a formato CDUF.</a:t>
            </a:r>
          </a:p>
        </p:txBody>
      </p:sp>
      <p:pic>
        <p:nvPicPr>
          <p:cNvPr id="5" name="Picture 4" descr="xml-edi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554480"/>
            <a:ext cx="5669280" cy="3937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Calibri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B3D"/>
                </a:solidFill>
                <a:latin typeface="Calibri"/>
              </a:rPr>
              <a:t>Gestión de contenido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  <a:latin typeface="Calibri"/>
              </a:defRPr>
            </a:pPr>
            <a:r>
              <a:t>•  Formulario para proponer nuevos términos al diccionario sin tocar código.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  <a:latin typeface="Calibri"/>
              </a:defRPr>
            </a:pPr>
            <a:r>
              <a:t>•  Pensado para recibir entradas generadas externamente con IA, manteniendo el control de calidad humano.</a:t>
            </a:r>
          </a:p>
        </p:txBody>
      </p:sp>
      <p:pic>
        <p:nvPicPr>
          <p:cNvPr id="5" name="Picture 4" descr="ges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554480"/>
            <a:ext cx="5669280" cy="3937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Calibri"/>
              </a:rPr>
              <a:t>CÓMO SE CONSTRUYÓ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B3D"/>
                </a:solidFill>
                <a:latin typeface="Calibri"/>
              </a:rPr>
              <a:t>Buenas prácticas de IA agéntica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475569"/>
                </a:solidFill>
                <a:latin typeface="Calibri"/>
              </a:defRPr>
            </a:pPr>
            <a:r>
              <a:t>•  Plan antes de código: ningún cambio se implementó sin presentar el plan y obtener confirmación explícita.</a:t>
            </a:r>
          </a:p>
          <a:p>
            <a:pPr>
              <a:spcAft>
                <a:spcPts val="1000"/>
              </a:spcAft>
              <a:defRPr sz="1800">
                <a:solidFill>
                  <a:srgbClr val="475569"/>
                </a:solidFill>
                <a:latin typeface="Calibri"/>
              </a:defRPr>
            </a:pPr>
            <a:r>
              <a:t>•  Validación financiera humana obligatoria: cada fórmula se explicó en términos simples y se confirmó su fuente antes de implementarla — ninguna fórmula se inventó.</a:t>
            </a:r>
          </a:p>
          <a:p>
            <a:pPr>
              <a:spcAft>
                <a:spcPts val="1000"/>
              </a:spcAft>
              <a:defRPr sz="1800">
                <a:solidFill>
                  <a:srgbClr val="475569"/>
                </a:solidFill>
                <a:latin typeface="Calibri"/>
              </a:defRPr>
            </a:pPr>
            <a:r>
              <a:t>•  Una feature por sesión/commit: 14 Pull Requests en el historial, cambios pequeños y revisables.</a:t>
            </a:r>
          </a:p>
          <a:p>
            <a:pPr>
              <a:spcAft>
                <a:spcPts val="1000"/>
              </a:spcAft>
              <a:defRPr sz="1800">
                <a:solidFill>
                  <a:srgbClr val="475569"/>
                </a:solidFill>
                <a:latin typeface="Calibri"/>
              </a:defRPr>
            </a:pPr>
            <a:r>
              <a:t>•  Arquitectura por configuración: agregar un producto financiero nuevo no requiere tocar el motor de cálculo.</a:t>
            </a:r>
          </a:p>
          <a:p>
            <a:pPr>
              <a:spcAft>
                <a:spcPts val="1000"/>
              </a:spcAft>
              <a:defRPr sz="1800">
                <a:solidFill>
                  <a:srgbClr val="475569"/>
                </a:solidFill>
                <a:latin typeface="Calibri"/>
              </a:defRPr>
            </a:pPr>
            <a:r>
              <a:t>•  Convenciones consistentes: commits en español, ramas descriptivas, hooks de verificación antes de cada push.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Calibri"/>
              </a:rPr>
              <a:t>VALOR PARA EL NEGOCIO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B3D"/>
                </a:solidFill>
                <a:latin typeface="Calibri"/>
              </a:rPr>
              <a:t>Por qué esto importa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475569"/>
                </a:solidFill>
                <a:latin typeface="Calibri"/>
              </a:defRPr>
            </a:pPr>
            <a:r>
              <a:t>•  Reduce la curva de aprendizaje de nuevos analistas y consultores Calypso.</a:t>
            </a:r>
          </a:p>
          <a:p>
            <a:pPr>
              <a:spcAft>
                <a:spcPts val="1000"/>
              </a:spcAft>
              <a:defRPr sz="2000">
                <a:solidFill>
                  <a:srgbClr val="475569"/>
                </a:solidFill>
                <a:latin typeface="Calibri"/>
              </a:defRPr>
            </a:pPr>
            <a:r>
              <a:t>•  Costo marginal prácticamente nulo en esta etapa: sin licencias, sin backend pagado.</a:t>
            </a:r>
          </a:p>
          <a:p>
            <a:pPr>
              <a:spcAft>
                <a:spcPts val="1000"/>
              </a:spcAft>
              <a:defRPr sz="2000">
                <a:solidFill>
                  <a:srgbClr val="475569"/>
                </a:solidFill>
                <a:latin typeface="Calibri"/>
              </a:defRPr>
            </a:pPr>
            <a:r>
              <a:t>•  Arquitectura lista para escalar a un back office real, sin reescribir el motor de cálculo ni la interfaz.</a:t>
            </a:r>
          </a:p>
          <a:p>
            <a:pPr>
              <a:spcAft>
                <a:spcPts val="1000"/>
              </a:spcAft>
              <a:defRPr sz="2000">
                <a:solidFill>
                  <a:srgbClr val="475569"/>
                </a:solidFill>
                <a:latin typeface="Calibri"/>
              </a:defRPr>
            </a:pPr>
            <a:r>
              <a:t>•  Metodología reusable: el mismo enfoque de IA agéntica aplica a otras herramientas internas de la empresa.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Calibri"/>
              </a:rPr>
              <a:t>PRÓXIMOS PASOS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B3D"/>
                </a:solidFill>
                <a:latin typeface="Calibri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475569"/>
                </a:solidFill>
                <a:latin typeface="Calibri"/>
              </a:defRPr>
            </a:pPr>
            <a:r>
              <a:t>•  Back office: gestión de usuarios, persistencia real y versionado de contenido.</a:t>
            </a:r>
          </a:p>
          <a:p>
            <a:pPr>
              <a:spcAft>
                <a:spcPts val="1000"/>
              </a:spcAft>
              <a:defRPr sz="2000">
                <a:solidFill>
                  <a:srgbClr val="475569"/>
                </a:solidFill>
                <a:latin typeface="Calibri"/>
              </a:defRPr>
            </a:pPr>
            <a:r>
              <a:t>•  Ficha de configuración de producto generada por IA.</a:t>
            </a:r>
          </a:p>
          <a:p>
            <a:pPr>
              <a:spcAft>
                <a:spcPts val="1000"/>
              </a:spcAft>
              <a:defRPr sz="2000">
                <a:solidFill>
                  <a:srgbClr val="475569"/>
                </a:solidFill>
                <a:latin typeface="Calibri"/>
              </a:defRPr>
            </a:pPr>
            <a:r>
              <a:t>•  Más productos financieros en el simulador.</a:t>
            </a:r>
          </a:p>
          <a:p>
            <a:pPr>
              <a:spcAft>
                <a:spcPts val="1000"/>
              </a:spcAft>
              <a:defRPr sz="2000">
                <a:solidFill>
                  <a:srgbClr val="475569"/>
                </a:solidFill>
                <a:latin typeface="Calibri"/>
              </a:defRPr>
            </a:pPr>
            <a:r>
              <a:t>•  Más colaboradores aportando al diccionario.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Calibri"/>
              </a:rPr>
              <a:t>Gracias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