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07040" y="548640"/>
            <a:ext cx="822960" cy="822960"/>
          </a:xfrm>
          <a:prstGeom prst="rect">
            <a:avLst/>
          </a:prstGeom>
          <a:solidFill>
            <a:srgbClr val="F0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D9C7"/>
                </a:solidFill>
                <a:latin typeface="Calibri"/>
              </a:rPr>
              <a:t>HACKATÓN INTERNA ·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Calypso Knowledge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CE3D6"/>
                </a:solidFill>
                <a:latin typeface="Calibri"/>
              </a:rPr>
              <a:t>IA agéntica aplicada a capacitación financiera interna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Calypso es difícil de aprender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7568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29968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Curva de aprendizaje alta</a:t>
            </a:r>
          </a:p>
          <a:p>
            <a:r>
              <a:rPr sz="1100">
                <a:solidFill>
                  <a:srgbClr val="6B7280"/>
                </a:solidFill>
              </a:rPr>
              <a:t>Calypso es una plataforma compleja para nuevos analistas y consultores.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07208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916936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71216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Conceptos poco intuitivos</a:t>
            </a:r>
          </a:p>
          <a:p>
            <a:r>
              <a:rPr sz="1100">
                <a:solidFill>
                  <a:srgbClr val="6B7280"/>
                </a:solidFill>
              </a:rPr>
              <a:t>Forward FX, NDF, tasas y pricing no son fáciles de entender sin formación financiera previa.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48456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Sin herramienta interna</a:t>
            </a:r>
          </a:p>
          <a:p>
            <a:r>
              <a:rPr sz="1100">
                <a:solidFill>
                  <a:srgbClr val="6B7280"/>
                </a:solidFill>
              </a:rPr>
              <a:t>El conocimiento vive disperso en documentos y personas, no en una herramienta interactiva.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LA SOLUCIÓN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11064240" cy="493776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583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Calypso Knowledge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6583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Plataforma de capacitación interactiva construida con IA agéntica (Claude Code). Esta demo de hackatón corre 100% local, sin backend ni costos de infraestructura — pensada para uso interno de la empresa.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La arquitectura ya está preparada para evolucionar hacia un back office real (usuarios, persistencia, versionado de contenido) cuando se quiera llevar a producción.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691640"/>
            <a:ext cx="3200400" cy="1051560"/>
          </a:xfrm>
          <a:prstGeom prst="roundRect">
            <a:avLst/>
          </a:prstGeom>
          <a:solidFill>
            <a:srgbClr val="F0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17647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2585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Módulos funcionales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2926080"/>
            <a:ext cx="3200400" cy="1051560"/>
          </a:xfrm>
          <a:prstGeom prst="roundRect">
            <a:avLst/>
          </a:prstGeom>
          <a:solidFill>
            <a:srgbClr val="F0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29992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34930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Local, sin backend pagado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4160520"/>
            <a:ext cx="3200400" cy="1051560"/>
          </a:xfrm>
          <a:prstGeom prst="roundRect">
            <a:avLst/>
          </a:prstGeom>
          <a:solidFill>
            <a:srgbClr val="F0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42336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472744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Pull Requests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FUNCIONALIDADES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Qué incluye el MVP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377440"/>
            <a:ext cx="502920" cy="5029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430"/>
                </a:solidFill>
                <a:latin typeface="Calibri"/>
              </a:rPr>
              <a:t>Simulador FX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FX Spot, Forward FX y FX NDF, con cálculo de cashflows en tiempo real.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10312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2377440"/>
            <a:ext cx="502920" cy="5029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3063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430"/>
                </a:solidFill>
                <a:latin typeface="Calibri"/>
              </a:rPr>
              <a:t>Diccionario interactivo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61188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Hover sobre cualquier valor calculado: definición, fórmula y origen del dato.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10312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2377440"/>
            <a:ext cx="502920" cy="5029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063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430"/>
                </a:solidFill>
                <a:latin typeface="Calibri"/>
              </a:rPr>
              <a:t>Editor de XML (CDUF)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61188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Carga, edita y exporta trades de Calypso en formato CDUF.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2103120"/>
            <a:ext cx="260604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06840" y="2377440"/>
            <a:ext cx="502920" cy="5029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306324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2430"/>
                </a:solidFill>
                <a:latin typeface="Calibri"/>
              </a:rPr>
              <a:t>Gestión de contenido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61188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Página centralizada para proponer nuevos términos del diccionario.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Simulador de Forward FX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Cálculo de Forward Rate con la fórmula de Covered Interest Rate Parity (CIP), mostrando paso a paso cómo se llega al resultado con los valores reales ingresados.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Soporta FX Spot, Forward FX y FX NDF, configurados por archivos JSON por producto.</a:t>
            </a:r>
          </a:p>
        </p:txBody>
      </p:sp>
      <p:pic>
        <p:nvPicPr>
          <p:cNvPr id="8" name="Picture 7" descr="simulador-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Diccionario interactivo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Cada término del simulador tiene su definición, fórmula y origen del dato, organizados por módulo.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Etiquetado claro: TRANSFERIBLE para conceptos aplicables a otras plataformas, vs. específico de Calypso.</a:t>
            </a:r>
          </a:p>
        </p:txBody>
      </p:sp>
      <p:pic>
        <p:nvPicPr>
          <p:cNvPr id="8" name="Picture 7" descr="diccio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Simulación: generador de XML de trades (CDUF)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Flujo completo de uso: cargar un XML real, editar/duplicar bloques y exportarlo de vuelta a CDUF.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31720"/>
            <a:ext cx="256032" cy="256032"/>
          </a:xfrm>
          <a:prstGeom prst="ellipse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331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Calibri"/>
              </a:rPr>
              <a:t>Cargar XML</a:t>
            </a:r>
          </a:p>
        </p:txBody>
      </p:sp>
      <p:pic>
        <p:nvPicPr>
          <p:cNvPr id="10" name="Picture 9" descr="xml-1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2651760" cy="18415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3337560" y="2331720"/>
            <a:ext cx="256032" cy="256032"/>
          </a:xfrm>
          <a:prstGeom prst="ellipse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6744" y="2331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Calibri"/>
              </a:rPr>
              <a:t>Estructura detectada</a:t>
            </a:r>
          </a:p>
        </p:txBody>
      </p:sp>
      <p:pic>
        <p:nvPicPr>
          <p:cNvPr id="13" name="Picture 12" descr="xml-2-lo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2697480"/>
            <a:ext cx="2651760" cy="18415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126479" y="2331720"/>
            <a:ext cx="256032" cy="256032"/>
          </a:xfrm>
          <a:prstGeom prst="ellipse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331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Calibri"/>
              </a:rPr>
              <a:t>Duplicar / editar bloques</a:t>
            </a:r>
          </a:p>
        </p:txBody>
      </p:sp>
      <p:pic>
        <p:nvPicPr>
          <p:cNvPr id="16" name="Picture 15" descr="xml-3-edit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79" y="2697480"/>
            <a:ext cx="2651760" cy="1841500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8915400" y="2331720"/>
            <a:ext cx="256032" cy="256032"/>
          </a:xfrm>
          <a:prstGeom prst="ellipse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44584" y="2331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F2430"/>
                </a:solidFill>
                <a:latin typeface="Calibri"/>
              </a:rPr>
              <a:t>Guardar y exportar CDUF</a:t>
            </a:r>
          </a:p>
        </p:txBody>
      </p:sp>
      <p:pic>
        <p:nvPicPr>
          <p:cNvPr id="19" name="Picture 18" descr="xml-4-regist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2697480"/>
            <a:ext cx="2651760" cy="1841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Gestión de contenido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Formulario para proponer nuevos términos al diccionario sin tocar código.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6B7280"/>
                </a:solidFill>
                <a:latin typeface="Calibri"/>
              </a:rPr>
              <a:t>Pensado para recibir entradas generadas externamente con IA, manteniendo el control de calidad humano.</a:t>
            </a:r>
          </a:p>
        </p:txBody>
      </p:sp>
      <p:pic>
        <p:nvPicPr>
          <p:cNvPr id="8" name="Picture 7" descr="g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93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CÓMO SE CONSTRUYÓ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Buenas prácticas de IA agéntica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78638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7568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29968"/>
            <a:ext cx="6995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Plan antes de código</a:t>
            </a:r>
          </a:p>
          <a:p>
            <a:r>
              <a:rPr sz="1100">
                <a:solidFill>
                  <a:srgbClr val="6B7280"/>
                </a:solidFill>
              </a:rPr>
              <a:t>Ningún cambio se implementó sin presentar el plan y obtener confirmación explícita.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79"/>
            <a:ext cx="78638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807207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61487"/>
            <a:ext cx="6995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Validación financiera humana</a:t>
            </a:r>
          </a:p>
          <a:p>
            <a:r>
              <a:rPr sz="1100">
                <a:solidFill>
                  <a:srgbClr val="6B7280"/>
                </a:solidFill>
              </a:rPr>
              <a:t>Cada fórmula se explicó en términos simples y se confirmó su fuente antes de implementarla — ninguna se inventó.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28999"/>
            <a:ext cx="78638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7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93007"/>
            <a:ext cx="6995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Una feature por commit</a:t>
            </a:r>
          </a:p>
          <a:p>
            <a:r>
              <a:rPr sz="1100">
                <a:solidFill>
                  <a:srgbClr val="6B7280"/>
                </a:solidFill>
              </a:rPr>
              <a:t>14 Pull Requests en el historial, cambios pequeños y revisables.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78638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27024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24528"/>
            <a:ext cx="6995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Arquitectura extensible por motores</a:t>
            </a:r>
          </a:p>
          <a:p>
            <a:r>
              <a:rPr sz="1100">
                <a:solidFill>
                  <a:srgbClr val="6B7280"/>
                </a:solidFill>
              </a:rPr>
              <a:t>Cada producto financiero tiene su propio motor de cálculo; agregar uno nuevo no modifica los existentes, solo se suma uno más.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78638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500176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56048"/>
            <a:ext cx="6995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Convenciones consistentes</a:t>
            </a:r>
          </a:p>
          <a:p>
            <a:r>
              <a:rPr sz="1100">
                <a:solidFill>
                  <a:srgbClr val="6B7280"/>
                </a:solidFill>
              </a:rPr>
              <a:t>Commits en español, ramas descriptivas, hooks de verificación antes de cada push.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VALOR PARA EL NEGOCIO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Por qué esto importa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520440" cy="9601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Menor curva de aprendizaje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59" y="1965960"/>
            <a:ext cx="3520440" cy="9601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057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$0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Costo marginal en esta etapa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965960"/>
            <a:ext cx="3520440" cy="960120"/>
          </a:xfrm>
          <a:prstGeom prst="round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20574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Productos escalables agregando nuevos motores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00400"/>
            <a:ext cx="108813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331012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264408"/>
            <a:ext cx="1001268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Onboarding más rápido</a:t>
            </a:r>
          </a:p>
          <a:p>
            <a:r>
              <a:rPr sz="1100">
                <a:solidFill>
                  <a:srgbClr val="6B7280"/>
                </a:solidFill>
              </a:rPr>
              <a:t>Reduce la curva de aprendizaje de nuevos analistas y consultores Calypso.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13632"/>
            <a:ext cx="108813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4023360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977640"/>
            <a:ext cx="1001268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Costo casi nulo</a:t>
            </a:r>
          </a:p>
          <a:p>
            <a:r>
              <a:rPr sz="1100">
                <a:solidFill>
                  <a:srgbClr val="6B7280"/>
                </a:solidFill>
              </a:rPr>
              <a:t>Sin licencias, sin backend pagado en esta etapa de demo.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26864"/>
            <a:ext cx="108813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736592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690872"/>
            <a:ext cx="1001268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Lista para escalar</a:t>
            </a:r>
          </a:p>
          <a:p>
            <a:r>
              <a:rPr sz="1100">
                <a:solidFill>
                  <a:srgbClr val="6B7280"/>
                </a:solidFill>
              </a:rPr>
              <a:t>Arquitectura preparada para un back office real y para sumar nuevos motores de producto sin tocar los existentes.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340096"/>
            <a:ext cx="1088136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5449824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404104"/>
            <a:ext cx="10012680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Metodología reusable</a:t>
            </a:r>
          </a:p>
          <a:p>
            <a:r>
              <a:rPr sz="1100">
                <a:solidFill>
                  <a:srgbClr val="6B7280"/>
                </a:solidFill>
              </a:rPr>
              <a:t>El mismo enfoque de IA agéntica aplica a otras herramientas internas de la empresa.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20040"/>
            <a:ext cx="109728" cy="109728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560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CALYPSO 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12880" y="0"/>
            <a:ext cx="576072" cy="50292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22C"/>
                </a:solidFill>
                <a:latin typeface="Calibri"/>
              </a:rPr>
              <a:t>PRÓXIMOS PASOS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430"/>
                </a:solidFill>
                <a:latin typeface="Calibri"/>
              </a:rPr>
              <a:t>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075688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29968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Back office</a:t>
            </a:r>
          </a:p>
          <a:p>
            <a:r>
              <a:rPr sz="1100">
                <a:solidFill>
                  <a:srgbClr val="6B7280"/>
                </a:solidFill>
              </a:rPr>
              <a:t>Gestión de usuarios, persistencia real y versionado de contenido.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07208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916936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71216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Ficha de producto por IA</a:t>
            </a:r>
          </a:p>
          <a:p>
            <a:r>
              <a:rPr sz="1100">
                <a:solidFill>
                  <a:srgbClr val="6B7280"/>
                </a:solidFill>
              </a:rPr>
              <a:t>Generación asistida de la ficha de configuración del producto simulado.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48456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Más productos financieros</a:t>
            </a:r>
          </a:p>
          <a:p>
            <a:r>
              <a:rPr sz="1100">
                <a:solidFill>
                  <a:srgbClr val="6B7280"/>
                </a:solidFill>
              </a:rPr>
              <a:t>Ampliar el simulador a nuevos instrumentos.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89704"/>
            <a:ext cx="78638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E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4599432"/>
            <a:ext cx="411480" cy="365760"/>
          </a:xfrm>
          <a:prstGeom prst="roundRect">
            <a:avLst/>
          </a:prstGeom>
          <a:solidFill>
            <a:srgbClr val="FBEA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C84A1E"/>
                </a:solidFill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53712"/>
            <a:ext cx="6995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300">
                <a:solidFill>
                  <a:srgbClr val="1F2430"/>
                </a:solidFill>
              </a:rPr>
              <a:t>Más colaboradores</a:t>
            </a:r>
          </a:p>
          <a:p>
            <a:r>
              <a:rPr sz="1100">
                <a:solidFill>
                  <a:srgbClr val="6B7280"/>
                </a:solidFill>
              </a:rPr>
              <a:t>Crecer el diccionario con aportes del equipo.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